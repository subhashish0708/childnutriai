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</a:defRPr>
            </a:pPr>
            <a:r>
              <a:t>G.H. RAISONI COLLEGE OF ENGINEERING AND MANAGEMENT, PUNE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Department of Computer Science &amp; Engineering (AI &amp; ML)</a:t>
            </a:r>
          </a:p>
          <a:p>
            <a:pPr>
              <a:spcBef>
                <a:spcPts val="2000"/>
              </a:spcBef>
              <a:defRPr sz="3000" b="1">
                <a:solidFill>
                  <a:srgbClr val="34D399"/>
                </a:solidFill>
              </a:defRPr>
            </a:pPr>
            <a:r>
              <a:t>ChildNutri AI: Malnourishment Identification in Infants Using AI</a:t>
            </a:r>
          </a:p>
          <a:p>
            <a:pPr>
              <a:spcBef>
                <a:spcPts val="800"/>
              </a:spcBef>
              <a:defRPr sz="1400">
                <a:solidFill>
                  <a:srgbClr val="F0FDFA"/>
                </a:solidFill>
              </a:defRPr>
            </a:pPr>
            <a:r>
              <a:t>An Explainable Multimodal Healthcare Platform Combining Deep Learning Vision,</a:t>
            </a:r>
            <a:br/>
            <a:r>
              <a:t>Deterministic WHO Anthropometry, and Calibrated Machine Learning</a:t>
            </a:r>
          </a:p>
          <a:p>
            <a:pPr>
              <a:spcBef>
                <a:spcPts val="2800"/>
              </a:spcBef>
              <a:defRPr sz="1300" b="1">
                <a:solidFill>
                  <a:srgbClr val="22D3EE"/>
                </a:solidFill>
              </a:defRPr>
            </a:pPr>
            <a:r>
              <a:t>Group No: O-33   |   Academic Year: 2025–2026</a:t>
            </a:r>
            <a:br/>
            <a:r>
              <a:t>Project Guide: Prof. Shridhar Venkatanarasimha</a:t>
            </a:r>
          </a:p>
          <a:p>
            <a:pPr>
              <a:spcBef>
                <a:spcPts val="800"/>
              </a:spcBef>
              <a:defRPr sz="1300">
                <a:solidFill>
                  <a:srgbClr val="F0FDFA"/>
                </a:solidFill>
              </a:defRPr>
            </a:pPr>
            <a:r>
              <a:t>Team Members: Kalpak Shende (L-09)  •  Subhashish Barik (L-33)  •  Vishweshwar Yadav (L-55)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CHILDNUTRI AI  |  B.TECH CAPSTONE DEFENSE</a:t>
            </a:r>
          </a:p>
          <a:p>
            <a:pPr>
              <a:defRPr sz="2400" b="1">
                <a:solidFill>
                  <a:srgbClr val="34D399"/>
                </a:solidFill>
              </a:defRPr>
            </a:pPr>
            <a:r>
              <a:t>Presentation Outline &amp; Key 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D28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Part 1: Motivation &amp; System Core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Clinical Background: National &amp; Global Pediatric Burden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Problem Statement &amp; Diagnostic Failure Modes in Existing AI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Project Objectives &amp; Proposed Multimodal Scope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Literature Survey &amp; Technical Comparative Benchmarks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Core Architectural Breakthrough: The 3-Layer Clinical Hierarchy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Predictive Machine Learning: LightGBM &amp; TreeSHAP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D28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Part 2: Vision, OCR, UX &amp; Validation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Deep Learning Vision AI &amp; Clinical Safety Gate (YCrCb Skin)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Automated Ingestion: Hybrid Vector &amp; Tesseract OCR Engine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Zero-Latency Client-Side English / Hindi Translation Architecture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Comprehensive Automated Regression Suite (18 Tests, 100% Pass)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Case Study Walkthrough: Eliminating False SAM Predictions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Conclusion, Public Health Impact &amp;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CHILDNUTRI AI  |  B.TECH CAPSTONE DEFENSE</a:t>
            </a:r>
          </a:p>
          <a:p>
            <a:pPr>
              <a:defRPr sz="2400" b="1">
                <a:solidFill>
                  <a:srgbClr val="34D399"/>
                </a:solidFill>
              </a:defRPr>
            </a:pPr>
            <a:r>
              <a:t>Clinical Background: The Silent Pediatric Emergency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0D28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The National Malnutrition Burden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India accounts for ~1/3 of global acute child malnutrition.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NFHS-5 statistics reveal 35.5% stunting, 19.3% wasting, and 7.7% severe acute malnutrition (SAM).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Malnutrition is an underlying risk factor in over 68% of under-5 child deaths nationwide.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0D28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The 'First 1,000 Days' Window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Conception to 24 months represents the critical developmental window.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Undetected growth faltering causes irreversible cognitive loss and stunted physical potential.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Severe Acute Malnutrition (SAM) increases child mortality risk by 9x without urgent stabilization.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0D28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Grassroots Delivery Bottlenecks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Frontline Anganwadi workers face heavy manual workload and uncalibrated analog hanging scales.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Paper Mother-Child Protection (MCP) cards suffer from damaged or lost carbon copies.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Lack of clinical decision support to explain subtle faltering signs before severe damage.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CHILDNUTRI AI  |  B.TECH CAPSTONE DEFENSE</a:t>
            </a:r>
          </a:p>
          <a:p>
            <a:pPr>
              <a:defRPr sz="2400" b="1">
                <a:solidFill>
                  <a:srgbClr val="34D399"/>
                </a:solidFill>
              </a:defRPr>
            </a:pPr>
            <a:r>
              <a:t>Problem Statement: Diagnostic Gaps &amp; Unvalidated AI Overreach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D28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Healthcare Delivery Failures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Late Detection: Current clinical screening detects malnutrition only after severe muscle wasting and tissue atrophy occur.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Manual Transcription Friction: Frontline workers manually compute child ages in days and plot curves, yielding &gt;25% human calculation errors.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Paper Data Silos: Immunization and growth cards are isolated in physical files without longitudinal risk alerts.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D2818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The 'Black-Box Vision Trap'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Unvalidated AI Overreach: Typical vision models mistake clothing collars, neckties, buttons, and backpack straps for exposed ribcage bones.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Age Incompatibility: Models built for infants (&lt;5 years) generate false SAM emergencies when given photos of school-aged children.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Fabricated Precision: Applications output uncalibrated 98/100 rib scores without checking if the child's torso is even bare.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Lack of Explainability: Clinicians reject opaque AI outputs that lack medical audit trails.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CHILDNUTRI AI  |  B.TECH CAPSTONE DEFENSE</a:t>
            </a:r>
          </a:p>
          <a:p>
            <a:pPr>
              <a:defRPr sz="2400" b="1">
                <a:solidFill>
                  <a:srgbClr val="34D399"/>
                </a:solidFill>
              </a:defRPr>
            </a:pPr>
            <a:r>
              <a:t>Project Objectives &amp; Scope of ChildNutri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0D28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1. Deterministic Anthropometry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Implement exact WHO 2006 LMS standard deviation equations for WAZ, HAZ, WHZ, and BAZ.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Zero rounding errors, achieving clinical grade parity with official WHO Anthro software.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Enforce strict CMAM emergency criteria for bilateral oedema and MUAC &lt; 11.5 cm.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0D28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2. Predictive ML &amp; Vision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Build a LightGBM future-risk engine forecasting faltering 3–6 months in advance.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Isotonic probability calibration (ROC-AUC: 0.87, Brier: 0.143) with TreeSHAP explanations.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Develop an Image Suitability &amp; Safety Gate (YCrCb skin segmentation, Laplacian focus, age gate).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0D28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3. Automation &amp; Usability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Hybrid OCR engine (pdfplumber + Tesseract 4) with automatic pediatric decimal recovery.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Zero-latency client-side English / Hindi translation engine for grassroots Anganwadi workers.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Downloadable medical PDF clinical reports and longitudinal growth trajectory charts.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CHILDNUTRI AI  |  B.TECH CAPSTONE DEFENSE</a:t>
            </a:r>
          </a:p>
          <a:p>
            <a:pPr>
              <a:defRPr sz="2400" b="1">
                <a:solidFill>
                  <a:srgbClr val="34D399"/>
                </a:solidFill>
              </a:defRPr>
            </a:pPr>
            <a:r>
              <a:t>Literature Survey &amp; Technical Comparative Benchmarking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0D28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Conventional Clinical Tools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WHO Anthro Software: Accurate LMS calculation but requires manual PC data entry with zero predictive risk forecasting.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Analog MUAC Tapes: Rapid field triage, but subject to high observer variability and tension errors.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Paper Health Cards: High loss rate, zero longitudinal automated alerting.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0D28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Academic Vision AI Papers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Typical deep learning papers evaluate standard CNNs on small, clean datasets.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Major vulnerability: Models learn spurious background correlations (school buses, dark shadows).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Fails on clothed children: Models invent rib prominence from folded fabric and 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0D28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ChildNutri AI Innovations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3-Layer Clinical Hierarchy: Visual screening is treated as preliminary; physical measurements strictly govern diagnosis.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Image Suitability Gate: Refuses to guess on clothed children, setting confidence to 0.0% and biomarkers to N/A.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Full Stack Integration: Connects photo triage, OCR, LightGBM future risk, and personalized diet plans.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CHILDNUTRI AI  |  B.TECH CAPSTONE DEFENSE</a:t>
            </a:r>
          </a:p>
          <a:p>
            <a:pPr>
              <a:defRPr sz="2400" b="1">
                <a:solidFill>
                  <a:srgbClr val="34D399"/>
                </a:solidFill>
              </a:defRPr>
            </a:pPr>
            <a:r>
              <a:t>System Architecture: 3-Layer Clinical Decision Hierarchy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0D28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Layer 1: Visual Screening Gate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Input: Child Photo + Age (months)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Image Quality Gate: Rejects blur (Laplacian &lt; 25.0) and extreme illumination.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Pediatric Age Gate: Enforces 0–59 months; rejects school-age children.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Clothing Obstruction Check: Bare skin &lt; 45% -&gt; Inconclusive, 0.0% confidence, N/A scores.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Multimodal ONNX Inference + Grad-CAM.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0D28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Layer 2: Deterministic WHO Anthro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Input: Verified Weight, Height, Age, Sex, MUAC, Bilateral Oedema.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Exact WHO 2006 LMS formulas compute WAZ, HAZ, WHZ standard deviations.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Deterministic Emergency Triggers: Bilateral pitting oedema or WHZ &lt; -3.0 SD immediately flags clinical SAM.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Cannot be overridden by any photograph.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0D28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Layer 3: Clinical Reconciliation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Discrepancy Resolution: If Photo = SAM but Physical = Normal, flags 'false_visual_alarm' and defers to physical diagnosis.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Safety Invariant: If Physical = SAM, immediate hospital NRC referral is NEVER suppressed or delayed.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Generates SHAP risk explanations, tailored 6-module diet plan, and PDF report.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CHILDNUTRI AI  |  B.TECH CAPSTONE DEFENSE</a:t>
            </a:r>
          </a:p>
          <a:p>
            <a:pPr>
              <a:defRPr sz="2400" b="1">
                <a:solidFill>
                  <a:srgbClr val="34D399"/>
                </a:solidFill>
              </a:defRPr>
            </a:pPr>
            <a:r>
              <a:t>Machine Learning Pipeline: LightGBM Future-Risk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D28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Feature Engineering &amp; Model Training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14 Multi-Domain Input Features: Child age, sex, 0–8 dietary diversity, meal frequency, breastfeeding, diarrhoea in last 14 days, fever, vaccines, maternal literacy, household wealth index, urban/rural.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LightGBM Classifier: Gradient boosted decision trees optimized for high recall on the vulnerable minority class.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Non-Parametric Isotonic Calibration: Calibrates raw tree logits to true empirical risk (Brier Score = 0.143, ROC-AUC = 0.87).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D28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Explainable AI (TreeSHAP) &amp; Tiers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TreeSHAP Attribution: Quantifies exact marginal contribution of each lifestyle and biological risk factor.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Example Output: '+28% risk due to zero protein intake, +19% from recent diarrhoea, +12% from mother literacy gap'.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Clinical Risk Tiers: LOW (&lt;25%), WATCH ZONE (25%–55%), HIGH RISK (&gt;55%).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Directly drives custom dietary intervention and Anganwadi home-visit schedules.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CHILDNUTRI AI  |  B.TECH CAPSTONE DEFENSE</a:t>
            </a:r>
          </a:p>
          <a:p>
            <a:pPr>
              <a:defRPr sz="2400" b="1">
                <a:solidFill>
                  <a:srgbClr val="34D399"/>
                </a:solidFill>
              </a:defRPr>
            </a:pPr>
            <a:r>
              <a:t>Computer Vision: Multimodal ONNX &amp; Clinical Safety Gate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D28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Image Suitability &amp; Safety Guardrails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Laplacian Focus Gate: Rejects motion blur with variance threshold sigma^2 &gt;= 25.0.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Illumination Gate: Rejects severe underexposure (&lt;30) and blinding glare (&gt;235).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Pediatric Age Gate: Enforces 0–59 months; halts scoring for school-aged children.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YCrCb Chrominance Skin Segmentation: Calculates bare skin ratio in thoracic ROI; if &lt;45%, safely flags 'inconclusive_clothing_obstruction'.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D28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ONNX Inference &amp; Grad-CAM Heatmaps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ONNX Runtime Execution: 224x224 RGB tensor with ImageNet normalization and stable Softmax.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Qualified Biomarkers: Directional Sobel vertical gradient density for ribs, orbital contrast for facial fat, and arm contour ratios.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Meters show 'N/A (Obstructed by clothing)' when torso is covered.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Grad-CAM Heatmap: Overlays JET colormap attention check, ensuring transparency for healthcare workers.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CHILDNUTRI AI  |  B.TECH CAPSTONE DEFENSE</a:t>
            </a:r>
          </a:p>
          <a:p>
            <a:pPr>
              <a:defRPr sz="2400" b="1">
                <a:solidFill>
                  <a:srgbClr val="34D399"/>
                </a:solidFill>
              </a:defRPr>
            </a:pPr>
            <a:r>
              <a:t>Smart Health Card OCR: Automated Document Digitization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D28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Hybrid Optical Processing Architecture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Vector PDF Route (pdfplumber): Direct embedded text stream extraction with 100% precision from clinic discharge summaries.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Raster Scan Route (OpenCV + Tesseract 4): Grayscale conversion, Gaussian smoothing, Otsu adaptive binarization, and deskewing.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Dual PSM Execution: Uses PSM 6 for structured tabular blocks and PSM 11 for sparse medical text fields.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D28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Decimal Recovery &amp; 1-Click Form Pre-Fill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Pediatric Decimal Recovery Engine: Automatically resolves dropped periods in faded carbon copies: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  - Converts '95 kg' to biological '9.5 kg' infant weight.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  - Converts '740 cm' to '74.0 cm' length.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Multi-Pattern Regex: Extracts child name, DOB, weight, height, MUAC, and immunization marks.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1-Click 'Use in Assessment': Prefills 6-step screening wizard in sessionStorage.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CHILDNUTRI AI  |  B.TECH CAPSTONE DEFENSE</a:t>
            </a:r>
          </a:p>
          <a:p>
            <a:pPr>
              <a:defRPr sz="2400" b="1">
                <a:solidFill>
                  <a:srgbClr val="34D399"/>
                </a:solidFill>
              </a:defRPr>
            </a:pPr>
            <a:r>
              <a:t>Grassroots UX: Zero-Latency Client-Side English / Hindi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D28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Zero-Latency Client-Side i18n Architecture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Pure Vanilla JavaScript: Zero external dependencies, zero API calls, and zero page reloads.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Global Dictionary (/static/js/hi.js): Structured mirror translations for thousands of UI strings, medical terms, and clinical warnings.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Declarative Markup: data-i18n for text nodes and data-i18n-placeholder for form inputs.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Instant Single-Pass DOM Traversal: Switches entire interface language in &lt;5 milliseconds.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Persistent State: Remembers user preference across visits in browser localStorage.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D28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Premium Field Dashboard UX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Theme: Accessible dark emerald-green and cyan palette (#040d0a, #34d399, #22d3ee).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Dual Persona Views: Non-intimidating visual cards for parents vs. granular z-score metrics for doctors.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Interactive Chart.js Growth Trajectories: Visualizes WAZ over time against WHO standard percentile curves.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Downloadable Medical PDF Reports: Standardized clinical summaries generated via ReportLab.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CHILDNUTRI AI  |  B.TECH CAPSTONE DEFENSE</a:t>
            </a:r>
          </a:p>
          <a:p>
            <a:pPr>
              <a:defRPr sz="2400" b="1">
                <a:solidFill>
                  <a:srgbClr val="34D399"/>
                </a:solidFill>
              </a:defRPr>
            </a:pPr>
            <a:r>
              <a:t>Verification, Validation &amp; Automated Clinical Safety Tests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D28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Automated Regression Test Suite (18 Tests)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100% Pass Rate across all 18 clinical unit &amp; integration tests in 3.27 seconds.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Test 1: Clothed school-aged child rejected (status: unsupported_age / clothing obstruction).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Test 2: Healthy infant correctly evaluated within supported 0–59m age range.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Test 3: Confirmed acute malnutrition correctly analyzed on exposed bare skin.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Test 4: Laplacian focus check rejects motion blur and extreme glare.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Test 5–8: Validates ONNX fallback, class index mapping, and RGB normalization.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D28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Clinical Safety Invariants Verified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Test 9: Rejects incomplete clinical assessment payloads.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Test 10: Discrepancy reconciliation flags 'false_visual_alarm' when physical anthropometry is normal.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Test 11: Validates numerically stable Softmax bounds [0.0, 1.0].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Test 12: Asserts confidence = 0.0% and biomarkers = N/A on obstructed photos.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Test 13: Emergency Clinical Invariant: Confirms physical SAM or oedema hospital referral is NEVER suppressed.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5 Core Flow Tests: Auth, CRUD, WHO classifications, OCR, and resource seeding.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CHILDNUTRI AI  |  B.TECH CAPSTONE DEFENSE</a:t>
            </a:r>
          </a:p>
          <a:p>
            <a:pPr>
              <a:defRPr sz="2400" b="1">
                <a:solidFill>
                  <a:srgbClr val="34D399"/>
                </a:solidFill>
              </a:defRPr>
            </a:pPr>
            <a:r>
              <a:t>Case Study Demonstration: Eliminating False SAM Predictions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D2818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Case 1: Clothed School Child (healthy_kid.jpg)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Previous Flawed Implementation: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  - Verdict: Severe Acute Malnutrition (SAM)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  - SAM Probability: 78% (Confidence: 77.9%)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  - Ribcage Prominence: 98/100 (Fabric collar &amp; buttons)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  - Limb Wasting: 64/100 (Navy tie shadow)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  - Action: Immediate hospital NRC emergency referral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Corrected ChildNutri AI Pipeline: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  - Status: Inconclusive (Clothing Obstruction) / Unsupported Age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  - Confidence: 0.0% (Refuses false certainty)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  - Rib Prominence &amp; Arm Wasting: N/A (Torso covered)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  - Action: Request standard physical measurements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D28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Case 2 &amp; 3: Clinical Reconciliation &amp; True SAM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Case 2: Image vs. Anthropometry Discrepancy: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  - Photo predicted possible SAM, but physical measurements normal (WHZ &gt;= -2.0, MUAC &gt;= 12.5cm).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  - System flags 'false_visual_alarm', explains clothing artifact, and normal clinical diagnosis takes precedence.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Case 3: Genuine Infant Acute Malnutrition: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  - Infant &lt;59 months with bare torso (&gt;70% skin exposure).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  - Passes quality gate; visual triage indicates severe wasting.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  - Physical measurements confirm WHZ &lt; -3.0 SD -&gt; Urgent NRC referral reinforced without delay.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CHILDNUTRI AI  |  B.TECH CAPSTONE DEFENSE</a:t>
            </a:r>
          </a:p>
          <a:p>
            <a:pPr>
              <a:defRPr sz="2400" b="1">
                <a:solidFill>
                  <a:srgbClr val="34D399"/>
                </a:solidFill>
              </a:defRPr>
            </a:pPr>
            <a:r>
              <a:t>Conclusion, Future Roadmap &amp; Primary 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0D28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Key Project Contributions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Engineered a clinically safe, explainable pediatric malnutrition screening platform.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Resolved the critical vision false-positive bug with a 3-Layer Clinical Hierarchy.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Enabled zero-latency English / Hindi field localization for rural frontline workers.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Delivered a 100% passing automated clinical safety test suite.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0D28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Future Development Roadmap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Clinical trials at district Nutrition Rehabilitation Centres (NRC) in collaboration with NHM.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Edge mobile deployment using ONNX Runtime Mobile and WebAssembly for offline Anganwadi tablets.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Direct API integration with the Government of India's Poshan Tracker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0D28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Key Literature References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1. WHO Child Growth Standards: Length/height-for-age, weight-for-age, WHZ (World Health Organization, 2006).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2. Ke, G., et al. 'LightGBM: A Highly Efficient Gradient Boosting Decision Tree' (NeurIPS 2017).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3. Lundberg &amp; Lee. 'A Unified Approach to Interpreting Model Predictions (SHAP)' (NeurIPS 2017).</a:t>
            </a:r>
          </a:p>
          <a:p>
            <a:pPr>
              <a:spcBef>
                <a:spcPts val="500"/>
              </a:spcBef>
              <a:defRPr sz="1100">
                <a:solidFill>
                  <a:srgbClr val="F0FDFA"/>
                </a:solidFill>
              </a:defRPr>
            </a:pPr>
            <a:r>
              <a:t>•  4. Selvaraju et al. 'Grad-CAM: Visual Explanations via Localization' (ICCV 2017).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